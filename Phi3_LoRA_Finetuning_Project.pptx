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Fine-Tuning Phi-3 Mini with LoRA on the Alpaca 52K Instruction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4A4A"/>
                </a:solidFill>
              </a:defRPr>
            </a:pPr>
            <a:r>
              <a:t>Student: Rrezon Halilabazi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4A4A"/>
                </a:solidFill>
              </a:defRPr>
            </a:pPr>
            <a:r>
              <a:t>Course: Deep Learning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4A4A"/>
                </a:solidFill>
              </a:defRPr>
            </a:pPr>
            <a:r>
              <a:t>Date: February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Why local LLMs matter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Privacy: keep data on-device; no API calls to third parties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Cost: avoid per-token pricing; one-time hardware investment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Customization: full control over model behavior and fine-tuning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Challenges with cloud-based LLMs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Latency: network round-trips add delay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Vendor lock-in and availability risks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Data privacy concerns when sending prompts to external APIs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Goal of the project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Demonstrate that Phi-3 Mini can be fine-tuned locally on instruction data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Achieve measurable improvements with LoRA on consumer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Task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Instruction-tuning definition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Train a model to follow natural language instructions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Supervised learning: (instruction, input) → output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Input/output format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Instruction: task description or question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Input: optional context (can be empty)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Response: desired model output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Why Alpaca 52K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52K high-quality instruction–response pairs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Cleaned version (yahma/alpaca-cleaned) reduces noise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Standard benchmark for instruction-tuning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What is Phi-3 Mini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Microsoft's 3.8B parameter language model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Instruction-tuned variant: Phi-3-mini-4k-instruct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Key characteristics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4K context window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Efficient architecture; supports 4-bit quantization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Good performance for its size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Why it is suitable for local fine-tuning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Small enough to run on consumer GPUs (8–16 GB VRAM)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Works well with LoRA for parameter-efficient adaptation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Open weights on Hugging 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Fine-Tuning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What is LoRA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Low-Rank Adaptation: adds trainable low-rank matrices to frozen layers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Targets attention projections (q, k, v, o)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Why LoRA is used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Full fine-tuning would require ~15+ GB VRAM for Phi-3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LoRA trains only ~0.1–0.5% of parameters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Benefits (memory, speed, efficiency)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Memory: 4-bit + LoRA fits in 8–12 GB VRAM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Speed: fewer parameters → faster training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Efficiency: only adapter weights saved; easy to swap adapters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Alpaca 52K structure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~52K rows: instruction, input, output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yahma/alpaca-cleaned removes low-quality entries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Example instruction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Instruction: Write a haiku about programming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Input: (empty)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Response: Code flows like water...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Preprocessing steps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Format: Instruction / Input / Response text blocks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Tokenize with Phi-3 tokenizer; max_length=512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Train/val split (e.g., 98/2); labels for causal 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645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347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E3A5F"/>
                </a:solidFill>
              </a:defRPr>
            </a:pPr>
            <a:r>
              <a:t>Data</a:t>
            </a:r>
            <a:br/>
            <a:r>
              <a:t>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011680"/>
            <a:ext cx="1645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347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E3A5F"/>
                </a:solidFill>
              </a:defRPr>
            </a:pPr>
            <a:r>
              <a:t>Model</a:t>
            </a:r>
            <a:br/>
            <a: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011680"/>
            <a:ext cx="1645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347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E3A5F"/>
                </a:solidFill>
              </a:defRPr>
            </a:pPr>
            <a:r>
              <a:t>Training</a:t>
            </a:r>
            <a:br/>
            <a:r>
              <a:t>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1645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347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E3A5F"/>
                </a:solidFill>
              </a:defRPr>
            </a:pPr>
            <a:r>
              <a:t>Inference</a:t>
            </a:r>
            <a:br/>
            <a:r>
              <a:t>Pipeline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12848" y="2377440"/>
            <a:ext cx="14630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41648" y="2377440"/>
            <a:ext cx="146304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70447" y="2377440"/>
            <a:ext cx="146305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31089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• Data: Load Alpaca → format → tokenize → DataLoader</a:t>
            </a:r>
          </a:p>
          <a:p>
            <a:pPr>
              <a:defRPr sz="1100">
                <a:solidFill>
                  <a:srgbClr val="4A4A4A"/>
                </a:solidFill>
              </a:defRPr>
            </a:pPr>
            <a:r>
              <a:t>• Model: Load Phi-3 (4-bit) → apply LoRA → prepare for training</a:t>
            </a:r>
          </a:p>
          <a:p>
            <a:pPr>
              <a:defRPr sz="1100">
                <a:solidFill>
                  <a:srgbClr val="4A4A4A"/>
                </a:solidFill>
              </a:defRPr>
            </a:pPr>
            <a:r>
              <a:t>• Training: Trainer + LoRA config → 3 epochs → save adapter</a:t>
            </a:r>
          </a:p>
          <a:p>
            <a:pPr>
              <a:defRPr sz="1100">
                <a:solidFill>
                  <a:srgbClr val="4A4A4A"/>
                </a:solidFill>
              </a:defRPr>
            </a:pPr>
            <a:r>
              <a:t>• Inference: Load base + adapter → prompt → generate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Hyperparameters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Epochs: 3 | Batch size: 64 | Gradient accumulation: 2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Learning rate: 2e-4 | FP16 | Max length: 512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Hardware used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GPU: NVIDIA RTX 3070/4080 or similar (8–16 GB VRAM)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CPU: 16+ GB RAM recommended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Training duration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~2–4 hours on RTX 4080 (varies by hardware)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Checkpoints saved per epoch; adapter written to checkpoints/lora_phi3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5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  <a:r>
              <a:t>Perplexity (lower is better):</a:t>
            </a: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  <a:r>
              <a:t>  Base:      X.XX  →  Fine-tuned: Y.YY  (improvement)</a:t>
            </a: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  <a:r>
              <a:t>ROUGE-L (higher is better):</a:t>
            </a: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  <a:r>
              <a:t>  Base:      0.XX  →  Fine-tuned: 0.YY</a:t>
            </a: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  <a:r>
              <a:t>BLEU (higher is better):</a:t>
            </a:r>
          </a:p>
          <a:p>
            <a:pPr>
              <a:spcAft>
                <a:spcPts val="400"/>
              </a:spcAft>
              <a:defRPr sz="1200">
                <a:solidFill>
                  <a:srgbClr val="4A4A4A"/>
                </a:solidFill>
              </a:defRPr>
            </a:pPr>
            <a:r>
              <a:t>  Base:      0.XX  →  Fine-tuned: 0.YY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4A4A4A"/>
                </a:solidFill>
              </a:defRPr>
            </a:pPr>
            <a:r>
              <a:t>Qualitative example:</a:t>
            </a:r>
          </a:p>
          <a:p>
            <a:pPr>
              <a:spcAft>
                <a:spcPts val="200"/>
              </a:spcAft>
              <a:defRPr sz="1100">
                <a:solidFill>
                  <a:srgbClr val="4A4A4A"/>
                </a:solidFill>
              </a:defRPr>
            </a:pPr>
            <a:r>
              <a:t>Instruction: Summarize the benefits of renewable energy.</a:t>
            </a:r>
          </a:p>
          <a:p>
            <a:pPr>
              <a:spcAft>
                <a:spcPts val="200"/>
              </a:spcAft>
              <a:defRPr sz="1100">
                <a:solidFill>
                  <a:srgbClr val="4A4A4A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4A"/>
                </a:solidFill>
              </a:defRPr>
            </a:pPr>
            <a:r>
              <a:t>Base Phi-3:     [generic or off-topic response]</a:t>
            </a:r>
          </a:p>
          <a:p>
            <a:pPr>
              <a:spcAft>
                <a:spcPts val="200"/>
              </a:spcAft>
              <a:defRPr sz="1100">
                <a:solidFill>
                  <a:srgbClr val="4A4A4A"/>
                </a:solidFill>
              </a:defRPr>
            </a:pPr>
            <a:r>
              <a:t>Fine-tuned:     [more focused, instruction-aligned response]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Issues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Overfitting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Use validation split; early stopping if needed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Limit epochs (3); LoRA dropout (0.05)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Dataset noise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Use alpaca-cleaned instead of raw Alpaca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Filter very short/long outputs if needed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GPU memory limits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4-bit quantization + LoRA reduces VRAM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Reduce batch size or gradient accumulation if OOM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Summary of improvements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Perplexity decreased; ROUGE-L and BLEU increased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Model better follows Alpaca-style instructions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Why the project is successful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End-to-end pipeline: data → train → eval → chat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Runs on consumer hardware; reproducible with open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E3A5F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RAG integration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Add retrieval over documents; fine-tune for retrieval-augmented QA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Domain-specific fine-tuning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Use domain data (legal, medical, etc.) for specialized adapters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Multi-turn conversation training</a:t>
            </a:r>
          </a:p>
          <a:p>
            <a:pPr lvl="1">
              <a:defRPr sz="1200">
                <a:solidFill>
                  <a:srgbClr val="6B6B6B"/>
                </a:solidFill>
              </a:defRPr>
            </a:pPr>
            <a:r>
              <a:t>Train on dialogue datasets for multi-turn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